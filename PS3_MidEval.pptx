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036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029200" y="457200"/>
            <a:ext cx="3931920" cy="1005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365760"/>
            <a:ext cx="228600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65760" y="365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: TechHunters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9601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Signal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365760" y="17373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Pipeline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365760" y="26334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Learning · Sparse Coding · OMP · K-SVD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3108960"/>
            <a:ext cx="365760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3337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6576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Records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14600" y="3337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51460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Metrics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3337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14,880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66344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Patches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12280" y="3337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81228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Atoms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Arrhythmia Database · Dictionary Learning + Dense Patch Averaging · SNR / RMSE / PRD / SSIM / R²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Why ECG Denoising is Hard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diagnosis depends on sub-millisecond signal morphology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432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White Noise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electronic interference from ADC circuitry and sensor electronics embedded throughout the signal spectrum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280160"/>
            <a:ext cx="274320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280160"/>
            <a:ext cx="27432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14173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Wander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8416" y="1783080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drift (0.05–0.5 Hz) caused by patient breathing and electrode movement during recording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280160"/>
            <a:ext cx="274320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63056" y="1280160"/>
            <a:ext cx="2743200" cy="64008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72784" y="14173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Powerline Interference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1783080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50/60 Hz sinusoidal contamination from electrical equipment — overlaps with critical ECG frequency bands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310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Contaminated ECG Signal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11880"/>
            <a:ext cx="8412480" cy="8686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274320" y="3273552"/>
            <a:ext cx="8503920" cy="256032"/>
          </a:xfrm>
          <a:prstGeom prst="rect">
            <a:avLst/>
          </a:prstGeom>
          <a:solidFill>
            <a:srgbClr val="1A0A0A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2918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challenge: QRS complex has high-frequency content (5–40 Hz) — traditional low-pass filters destroy diagnostic peaks while trying to remove noise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&amp; Their Fundamental Flaws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frequency-domain approaches are insufficient for clinical ECG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841248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73152" cy="102412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0" y="1444752"/>
            <a:ext cx="1188720" cy="2926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0" y="14447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Convolution with rectangular kernel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Flaw: Blunts QRS peaks — reduces amplitude of diagnostic R-waves by up to 40%. Zero phase awareness.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377440"/>
            <a:ext cx="841248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2377440"/>
            <a:ext cx="73152" cy="10241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0" y="2633472"/>
            <a:ext cx="1188720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0" y="26334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 BPF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IIR bandpass filter (0.5–40 Hz, order 4)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Flaw: Gibbs phenomenon causes ringing artifacts near QRS. Phase distortion shifts timing — critical for arrhythmia detection.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841248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566160"/>
            <a:ext cx="73152" cy="10241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3822192"/>
            <a:ext cx="1188720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0" y="38221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(db6)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950208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Multiresolution decomposition + BayesShrink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187952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Flaw: Threshold selection is heuristic. Struggles with non-stationary noise. Does not model cardiac morphology.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754880"/>
            <a:ext cx="8412480" cy="256032"/>
          </a:xfrm>
          <a:prstGeom prst="rect">
            <a:avLst/>
          </a:prstGeom>
          <a:solidFill>
            <a:srgbClr val="0A2010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4773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abandon frequency domain entirely — learn the physiological shapes of heartbeats from 48 patient records, reconstruct signals using only those shapes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MIT-BIH Arrhythmia Database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PhysioNet gold-standard benchmark — 48 annotated clinical records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73736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 (patients)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173736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2715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record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46120"/>
            <a:ext cx="173736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Hz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" y="3721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frequency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1234440"/>
            <a:ext cx="173736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77440" y="1280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377440" y="17099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per record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0" y="2240280"/>
            <a:ext cx="173736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7744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leads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377440" y="2715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MLII + V5 channels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0" y="3246120"/>
            <a:ext cx="173736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7744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11-bit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377440" y="3721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resolution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0" y="1234440"/>
            <a:ext cx="4572000" cy="3474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89120" y="1234440"/>
            <a:ext cx="45720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1353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Interpreted &amp; Used the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175564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integers converted to millivolts: signal_mv = (raw − 1024) / 200 giving physiological range −2.7 to +1.4 mV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25856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stored with embedded single-quotes — stripped at load time to prevent KeyError crashes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276148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Per-record normalization (zero-mean, unit-variance) — prevents amplitude variation across patients from corrupting dictionary atoms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326440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100 held out as test signal. 47 records train the dictionary — simulates real deployment on a new patient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376732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samples extracted per file (27.8 s) — tractable training while preserving full heartbeat morphology diversity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427024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records with std &lt; 0.005 mV rejected as corrupt or flat — ensures clean training data</a:t>
            </a:r>
            <a:endParaRPr lang="en-US" sz="10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274320" y="4846320"/>
            <a:ext cx="3931920" cy="1828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end-to-end signal processing + ML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234440"/>
            <a:ext cx="1554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1234440"/>
            <a:ext cx="155448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39903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1892808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Convert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73936" y="1874520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56816" y="1234440"/>
            <a:ext cx="1554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56816" y="1234440"/>
            <a:ext cx="1554480" cy="7315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29968" y="139903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029968" y="1892808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Synthesis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9584" y="1874520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12464" y="1234440"/>
            <a:ext cx="1554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12464" y="1234440"/>
            <a:ext cx="155448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85616" y="139903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785616" y="1892808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Patching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85232" y="1874520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68112" y="1234440"/>
            <a:ext cx="1554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68112" y="1234440"/>
            <a:ext cx="155448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41264" y="139903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541264" y="1892808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Learning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40880" y="1874520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23760" y="1234440"/>
            <a:ext cx="1554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1234440"/>
            <a:ext cx="155448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96912" y="139903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296912" y="1892808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Coding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" y="2880360"/>
            <a:ext cx="1554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01168" y="2880360"/>
            <a:ext cx="155448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0449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274320" y="3538728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Average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773936" y="3520440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956816" y="2880360"/>
            <a:ext cx="1554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956816" y="2880360"/>
            <a:ext cx="155448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029968" y="30449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2029968" y="3538728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Savitzky-Golay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529584" y="3520440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712464" y="2880360"/>
            <a:ext cx="1554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712464" y="2880360"/>
            <a:ext cx="155448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85616" y="30449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3785616" y="3538728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Filter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285232" y="3520440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68112" y="2880360"/>
            <a:ext cx="1554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AA0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468112" y="2880360"/>
            <a:ext cx="1554480" cy="73152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541264" y="30449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5541264" y="3538728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Base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3520440"/>
            <a:ext cx="164592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223760" y="2880360"/>
            <a:ext cx="155448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223760" y="2880360"/>
            <a:ext cx="155448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296912" y="30449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7296912" y="3538728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+ Plot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01168" y="4736592"/>
            <a:ext cx="8577072" cy="274320"/>
          </a:xfrm>
          <a:prstGeom prst="rect">
            <a:avLst/>
          </a:prstGeom>
          <a:solidFill>
            <a:srgbClr val="07102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" y="475488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denoised signal · 6 publication-quality plots · full metrics table (SNR, RMSE, PRD, SSIM, R²) comparing 4 methods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Data Ingestion &amp; Memory-Level Optimization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conversion · per-record normalization · stride-trick patching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21945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→ Millivolt Conversion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signal_mV = (raw_ADC − baseline) / gain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= 200 ADU/mV
baseline = 1024 (11-bit midpoint)
</a:t>
            </a:r>
            <a:r>
              <a:rPr lang="en-US" sz="1100" b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−2.72 mV to +1.44 mV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44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this: matrix factorization operates on integers 481–1311 — convergence fails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4297680" cy="21945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429768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Per-Record Normalization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7556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 = (x − μ) / (σ + ε)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1488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signal mean per record
σ = standard deviation per record
ε = 1e-8 (division guard)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944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normalization distorts low-amplitude patients — per-record is essential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493008"/>
            <a:ext cx="859536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493008"/>
            <a:ext cx="8595360" cy="64008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630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Memory Windowing — np.lib.stride_tricks.as_strided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9502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= np.lib.stride_tricks.as_strided(signal, shape=(n_windows, W), strides=(stride*bytes, bytes))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2793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copying 14,880 windows into RAM (would duplicate ~1 GB), stride tricks create a virtual 2D view of the 1D array by manipulating memory pointer offsets. Zero data duplication — O(1) extra memory overhead.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Dictionary Learning (K-SVD Style)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 overcomplete basis of cardiac morphologies from 48-patient population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1371600"/>
          </a:xfrm>
          <a:prstGeom prst="rect">
            <a:avLst/>
          </a:prstGeom>
          <a:solidFill>
            <a:srgbClr val="061528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3533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Objective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645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min_{D,X}  ‖Y − DX‖²_F     subject to  ‖x_i‖₀ ≤ k  ∀i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274320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274320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87121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— Training Patches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24612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of clean ECG windows from all 48 records.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(14,880 windows × 64 samples)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64-sample heartbeat fragment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2743200"/>
            <a:ext cx="274320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72968" y="2743200"/>
            <a:ext cx="27432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82696" y="287121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— Dictionary (learned)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82696" y="324612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64 overcomplete atom matrix.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atoms &gt; 64 dimensions → overcomplete basis captures more cardiac patterns than PCA would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1616" y="2743200"/>
            <a:ext cx="274320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71616" y="2743200"/>
            <a:ext cx="2743200" cy="64008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81344" y="287121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— Sparse Codes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1344" y="324612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matrix: each patch represented by at most k=10 active atoms.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ensures only physiological patterns are encoded — not noise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35808" y="3703320"/>
            <a:ext cx="10972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34456" y="3703320"/>
            <a:ext cx="10972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n_atoms=128 · sparsity=10 · fit_algorithm=lars · transform=omp · max_iter=100 · n_jobs=-1 · random_state=42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Orthogonal Matching Pursuit (OMP)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L₀-norm minimization — why noise cannot be reconstructed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804672"/>
          </a:xfrm>
          <a:prstGeom prst="rect">
            <a:avLst/>
          </a:prstGeom>
          <a:solidFill>
            <a:srgbClr val="061528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min_α  ‖y − Dα‖₂    subject to  ‖α‖₀ ≤ k=10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1148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3225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6700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inner product ⟨r, d_j⟩ for all 128 atoms d_j. Select atom with maximum correlation: λ₁ = argmax_j |⟨r₀, d_j⟩|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41148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721608"/>
            <a:ext cx="384048" cy="38404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Update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40416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signal onto selected atom subspace. Subtract contribution: r₁ = y − D_{λ₁} · (D_{λ₁}ᵀ D_{λ₁})⁻¹ D_{λ₁}ᵀ 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212848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2212848"/>
            <a:ext cx="4114800" cy="54864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350008"/>
            <a:ext cx="384048" cy="384048"/>
          </a:xfrm>
          <a:prstGeom prst="ellipse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84648" y="23225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to k=10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84648" y="26700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correlation search on residual r₁. Orthogonalize coefficients at each step (avoids redundant atom selection)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3584448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3584448"/>
            <a:ext cx="4114800" cy="5486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3721608"/>
            <a:ext cx="384048" cy="384048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84648" y="36941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Noise Is Rejected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84648" y="40416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Gaussian noise has near-zero correlation with any structured cardiac atom. OMP simply cannot find an atom that fits noise — it falls below selection threshold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071020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Reconstruction: ŷ = D · α★   where α★ has exactly k=10 non-zero entries — sparse encoding guarantees noise exclusion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Dense Patch Averaging — The Secret Sauce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Stride-1 reconstruction: each sample averaged across up to 64 independent sparse estimates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5486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OLA (stride=32)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 signal into blocks
• Reconstruct each block
• Paste side by side with Hanning
• Each sample = 1–2 estimates
</a:t>
            </a: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 boundary artifacts remain
</a:t>
            </a: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Noise cancellation: weak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29768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2976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53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Patch Averaging (stride=1)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5564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 ALL n−W+1 patches (stride=1)
• Sparse-code each patch independently
• Each sample covered by W=64 patches
• Final value = average of 64 estimates
</a:t>
            </a: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block artifacts — smooth output
</a:t>
            </a: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Noise cancellation: maximum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361688"/>
            <a:ext cx="8595360" cy="539496"/>
          </a:xfrm>
          <a:prstGeom prst="rect">
            <a:avLst/>
          </a:prstGeom>
          <a:solidFill>
            <a:srgbClr val="071028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basis — Non-Local Means analogy: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902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x̂[t] = (1/N_t) · Σ_{p: t∈p} ŷ_p[t−start(p)]    where ŷ_p = D·α_p  (sparse reconstruction of patch p)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6943" y="4900943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physiological signal is deterministic → reinforces under averaging. Noise is stochastic (zero-mean) → cancels. Law of Large Numbers working for us.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Synthesis &amp; Post-Processing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3-component noise model · Savitzky-Golay smoothing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502920"/>
          </a:xfrm>
          <a:prstGeom prst="rect">
            <a:avLst/>
          </a:prstGeom>
          <a:solidFill>
            <a:srgbClr val="061528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y_noisy = x_clean + η_Gaussian + η_wander + η_powerline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859536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64008" cy="80467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η_Gaussian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N(0, σ²)  where σ² = P_sig / 10^(SNR/10) × 0.70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49240" y="197510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noise from ADC electronics. 70% of noise power budget. Target SNR = 10 </a:t>
            </a:r>
            <a:r>
              <a:rPr lang="en-US" sz="10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16352"/>
            <a:ext cx="859536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816352"/>
            <a:ext cx="64008" cy="8046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62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η_wander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A_i · sin(2π f_i t)  for f ∈ {0.05, 0.15, 0.3 Hz}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49240" y="288950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drift from breathing and electrode movement. 15% of noise budget. Amplitude 0.15–0.08.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730752"/>
            <a:ext cx="859536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730752"/>
            <a:ext cx="64008" cy="804672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7764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η_powerline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sin(2π · 50 · 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9240" y="380390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 sinusoidal contamination from electrical mains. 15% of noise budget. Normalized to target power.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071528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Savitzky-Golay  savgol_filter(signal, window=11, polyorder=3)  — fits local polynomials to remove residual high-freq artifacts without frequency cutoff distortion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Framework: 5 Clinical-Grade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biomedical signal quality assessment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206240" cy="1078992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20624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380744"/>
            <a:ext cx="548640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380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3898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Signal-to-Noise Ratio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74650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= 10 · log₁₀(Var(x) / Var(x − x̂))  [dB]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08483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metric. Higher = better. Measures how much noise remains relative to signal power. Clinical threshold: &gt;20 dB for diagnostic quality.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206240" cy="1078992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20624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" y="2587752"/>
            <a:ext cx="548640" cy="3200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5877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5968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Error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9535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√( (1/N) · Σ (x_i − x̂_i)² 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2918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reconstruction accuracy in signal units. Lower = better. Direct measure of per-sample error magnitude.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675888"/>
            <a:ext cx="4206240" cy="1078992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75888"/>
            <a:ext cx="4206240" cy="54864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048" y="3794760"/>
            <a:ext cx="548640" cy="320040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8039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Root-mean-square Difference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16052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 = 100 · ‖x − x̂‖₂ / ‖x‖₂  [%]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449884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metric in ECG literature (AHA guidelines). Normalized, allows cross-dataset comparison. &lt;5% considered clinically acceptable.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45152" y="1261872"/>
            <a:ext cx="420624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45152" y="1261872"/>
            <a:ext cx="4206240" cy="5486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1380744"/>
            <a:ext cx="548640" cy="32004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1380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13898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Similarity Index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174650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SSIM = (2μ_xμ_{x̂} + C₁)(2σ_{xx̂} + C₂) / (μ²_x + μ²_{x̂} + C₁)(σ²_x + σ²_{x̂} + C₂)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208483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quality metric — measures structural patterns, not just amplitude. Range [0,1]. Captures morphological preservation better than RMSE alone.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45152" y="3072384"/>
            <a:ext cx="420624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45152" y="3072384"/>
            <a:ext cx="420624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3191256"/>
            <a:ext cx="5486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31912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3200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355701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1 − Σ(x_i − x̂_i)² / Σ(x_i − x̄)²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389534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variance. Range [0,1] for good denoising. Captures global waveform fidelity — clinicians intuitively understand this metric.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Dictionary Learning Outperforms All Baselines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comparison across 5 metrics — test record 100, 10 dB input SNR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123444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1691640"/>
            <a:ext cx="1389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98080" y="2258568"/>
            <a:ext cx="1389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98080" y="2825496"/>
            <a:ext cx="1389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498080" y="3392424"/>
            <a:ext cx="1389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365760" y="47000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246120" y="47000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126480" y="47000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524E4482-55FE-BD50-108C-C90F3AA4A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23" y="1125073"/>
            <a:ext cx="4213058" cy="2942271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DDE31877-B080-823B-4494-DAE279D97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143480"/>
            <a:ext cx="4517445" cy="2923863"/>
          </a:xfrm>
          <a:prstGeom prst="rect">
            <a:avLst/>
          </a:prstGeom>
        </p:spPr>
      </p:pic>
      <p:sp>
        <p:nvSpPr>
          <p:cNvPr id="89" name="Shape 2">
            <a:extLst>
              <a:ext uri="{FF2B5EF4-FFF2-40B4-BE49-F238E27FC236}">
                <a16:creationId xmlns:a16="http://schemas.microsoft.com/office/drawing/2014/main" id="{A5AB47AB-B5D6-80E2-DC48-41EB0029E591}"/>
              </a:ext>
            </a:extLst>
          </p:cNvPr>
          <p:cNvSpPr/>
          <p:nvPr/>
        </p:nvSpPr>
        <p:spPr>
          <a:xfrm>
            <a:off x="138322" y="3607308"/>
            <a:ext cx="1647227" cy="46003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+3.8 db</a:t>
            </a:r>
          </a:p>
          <a:p>
            <a:pPr algn="ctr"/>
            <a:r>
              <a:rPr lang="en-US" sz="800" dirty="0">
                <a:solidFill>
                  <a:srgbClr val="FFFFFF"/>
                </a:solidFill>
              </a:rPr>
              <a:t>vs Wavelet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FFFFFF"/>
                </a:solidFill>
              </a:rPr>
              <a:t>SNR improvement</a:t>
            </a:r>
          </a:p>
        </p:txBody>
      </p:sp>
      <p:sp>
        <p:nvSpPr>
          <p:cNvPr id="90" name="Shape 5">
            <a:extLst>
              <a:ext uri="{FF2B5EF4-FFF2-40B4-BE49-F238E27FC236}">
                <a16:creationId xmlns:a16="http://schemas.microsoft.com/office/drawing/2014/main" id="{F2CEC562-DE17-DF57-CBA6-4C47C71C41DC}"/>
              </a:ext>
            </a:extLst>
          </p:cNvPr>
          <p:cNvSpPr/>
          <p:nvPr/>
        </p:nvSpPr>
        <p:spPr>
          <a:xfrm>
            <a:off x="1785550" y="3607309"/>
            <a:ext cx="1248031" cy="4600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0.955</a:t>
            </a:r>
          </a:p>
          <a:p>
            <a:pPr algn="ctr"/>
            <a:r>
              <a:rPr lang="en-US" sz="800" dirty="0">
                <a:solidFill>
                  <a:srgbClr val="FFFFFF"/>
                </a:solidFill>
              </a:rPr>
              <a:t>R² Score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FFFFFF"/>
                </a:solidFill>
              </a:rPr>
              <a:t>near-perfect fit</a:t>
            </a:r>
          </a:p>
        </p:txBody>
      </p:sp>
      <p:sp>
        <p:nvSpPr>
          <p:cNvPr id="91" name="Shape 8">
            <a:extLst>
              <a:ext uri="{FF2B5EF4-FFF2-40B4-BE49-F238E27FC236}">
                <a16:creationId xmlns:a16="http://schemas.microsoft.com/office/drawing/2014/main" id="{6C8290BD-08E8-3F64-D1D2-4FB096E0FB7D}"/>
              </a:ext>
            </a:extLst>
          </p:cNvPr>
          <p:cNvSpPr/>
          <p:nvPr/>
        </p:nvSpPr>
        <p:spPr>
          <a:xfrm>
            <a:off x="3033583" y="3607308"/>
            <a:ext cx="1317797" cy="460035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35 %</a:t>
            </a:r>
          </a:p>
          <a:p>
            <a:pPr algn="ctr"/>
            <a:r>
              <a:rPr lang="en-US" sz="800" dirty="0">
                <a:solidFill>
                  <a:srgbClr val="FFFFFF"/>
                </a:solidFill>
              </a:rPr>
              <a:t>RMSE drop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FFFFFF"/>
                </a:solidFill>
              </a:rPr>
              <a:t>vs noisy input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Results: Signal Reconstruction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0408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Noisy → Dict Learning denoised — 1000-sample window @ 360 Hz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088"/>
            <a:ext cx="8229600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5420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81635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37307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488289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E786D4-0F9F-18C8-E479-8031038E9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44" y="1029422"/>
            <a:ext cx="4572000" cy="16205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BF1999C-CB30-96BC-024B-68EC6E003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619" y="1095197"/>
            <a:ext cx="4102964" cy="2893670"/>
          </a:xfrm>
          <a:prstGeom prst="rect">
            <a:avLst/>
          </a:prstGeom>
        </p:spPr>
      </p:pic>
      <p:sp>
        <p:nvSpPr>
          <p:cNvPr id="31" name="Shape 2">
            <a:extLst>
              <a:ext uri="{FF2B5EF4-FFF2-40B4-BE49-F238E27FC236}">
                <a16:creationId xmlns:a16="http://schemas.microsoft.com/office/drawing/2014/main" id="{F22ADD7F-87F4-BA62-67A0-ABC393C15A1D}"/>
              </a:ext>
            </a:extLst>
          </p:cNvPr>
          <p:cNvSpPr/>
          <p:nvPr/>
        </p:nvSpPr>
        <p:spPr>
          <a:xfrm>
            <a:off x="228600" y="671362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3B3BB76-2AA3-13CC-8CA1-580A77C9B8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108" y="2699951"/>
            <a:ext cx="3672343" cy="23454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Approach Wins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domain processing vs frequency-domain thinking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920240" cy="43891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1261872"/>
            <a:ext cx="2834640" cy="43891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40280" y="126187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Domain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(Butterworth / Wavelet)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0" y="1261872"/>
            <a:ext cx="2834640" cy="43891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26187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Domain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Pipeline)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192024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737360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40280" y="1737360"/>
            <a:ext cx="2834640" cy="603504"/>
          </a:xfrm>
          <a:prstGeom prst="rect">
            <a:avLst/>
          </a:prstGeom>
          <a:solidFill>
            <a:srgbClr val="170808"/>
          </a:solidFill>
          <a:ln w="635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31720" y="173736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noise is spectrally separable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20640" y="1737360"/>
            <a:ext cx="2834640" cy="603504"/>
          </a:xfrm>
          <a:prstGeom prst="rect">
            <a:avLst/>
          </a:prstGeom>
          <a:solidFill>
            <a:srgbClr val="081708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173736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 needed — noise ≠ cardiac atoms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95728"/>
            <a:ext cx="192024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39572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 impact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40280" y="2395728"/>
            <a:ext cx="2834640" cy="603504"/>
          </a:xfrm>
          <a:prstGeom prst="rect">
            <a:avLst/>
          </a:prstGeom>
          <a:solidFill>
            <a:srgbClr val="170808"/>
          </a:solidFill>
          <a:ln w="635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31720" y="239572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Attenuates high-freq QRS components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20640" y="2395728"/>
            <a:ext cx="2834640" cy="603504"/>
          </a:xfrm>
          <a:prstGeom prst="rect">
            <a:avLst/>
          </a:prstGeom>
          <a:solidFill>
            <a:srgbClr val="081708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0" y="239572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 fully preserved — atoms explicitly capture 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054096"/>
            <a:ext cx="192024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054096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distortion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40280" y="3054096"/>
            <a:ext cx="2834640" cy="603504"/>
          </a:xfrm>
          <a:prstGeom prst="rect">
            <a:avLst/>
          </a:prstGeom>
          <a:solidFill>
            <a:srgbClr val="170808"/>
          </a:solidFill>
          <a:ln w="635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331720" y="3054096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IIR filters shift peak timing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3054096"/>
            <a:ext cx="2834640" cy="603504"/>
          </a:xfrm>
          <a:prstGeom prst="rect">
            <a:avLst/>
          </a:prstGeom>
          <a:solidFill>
            <a:srgbClr val="081708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2080" y="3054096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phase distortion — no filtering involved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712464"/>
            <a:ext cx="192024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3712464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40280" y="3712464"/>
            <a:ext cx="2834640" cy="603504"/>
          </a:xfrm>
          <a:prstGeom prst="rect">
            <a:avLst/>
          </a:prstGeom>
          <a:solidFill>
            <a:srgbClr val="170808"/>
          </a:solidFill>
          <a:ln w="635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331720" y="3712464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frequency cutoffs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20640" y="3712464"/>
            <a:ext cx="2834640" cy="603504"/>
          </a:xfrm>
          <a:prstGeom prst="rect">
            <a:avLst/>
          </a:prstGeom>
          <a:solidFill>
            <a:srgbClr val="081708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12080" y="3712464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trained on 47 real patients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370832"/>
            <a:ext cx="192024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0040" y="437083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Arrhythmia aware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40280" y="4370832"/>
            <a:ext cx="2834640" cy="603504"/>
          </a:xfrm>
          <a:prstGeom prst="rect">
            <a:avLst/>
          </a:prstGeom>
          <a:solidFill>
            <a:srgbClr val="170808"/>
          </a:solidFill>
          <a:ln w="635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31720" y="437083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fixed filter coefficients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20640" y="4370832"/>
            <a:ext cx="2834640" cy="603504"/>
          </a:xfrm>
          <a:prstGeom prst="rect">
            <a:avLst/>
          </a:prstGeom>
          <a:solidFill>
            <a:srgbClr val="081708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12080" y="437083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128 atoms include pathological morphologies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092440" y="219456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 1: CNN-LISTA for Real-Time Denoising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greedy OMP with a learned neural network — 100× faster inference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548640"/>
          </a:xfrm>
          <a:prstGeom prst="rect">
            <a:avLst/>
          </a:prstGeom>
          <a:solidFill>
            <a:srgbClr val="06102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is a greedy iterative algorithm — it takes milliseconds per patch, making real-time inference on wearable ECG devices (e.g., Apple Watch, Holter monitors) infeasible. The LISTA network learns to produce OMP-quality sparse codes in a single forward pass.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13258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1325880" cy="5486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64-d noisy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64208" y="2578608"/>
            <a:ext cx="10058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83080" y="1938528"/>
            <a:ext cx="13258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83080" y="1938528"/>
            <a:ext cx="132588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0" y="20299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W_e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828800" y="2606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× 64 atoms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27248" y="2578608"/>
            <a:ext cx="10058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1938528"/>
            <a:ext cx="13258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46120" y="1938528"/>
            <a:ext cx="132588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20299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2606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ℓ₁ proximal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90288" y="2578608"/>
            <a:ext cx="10058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1938528"/>
            <a:ext cx="13258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1938528"/>
            <a:ext cx="132588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20299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W_e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2606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53328" y="2578608"/>
            <a:ext cx="10058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1938528"/>
            <a:ext cx="13258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72200" y="1938528"/>
            <a:ext cx="132588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0" y="20299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α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17920" y="2606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non-zero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16368" y="2578608"/>
            <a:ext cx="10058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35240" y="1938528"/>
            <a:ext cx="13258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35240" y="1938528"/>
            <a:ext cx="13258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80960" y="20299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α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680960" y="2606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output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383280"/>
            <a:ext cx="4114800" cy="1417318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383280"/>
            <a:ext cx="41148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" y="3493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Training Loss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11480" y="3822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‖x_clean − D·α_θ(y_noisy)‖² + λ · ‖α_θ‖₁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1480" y="4187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· ‖α‖₁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sparsity regularization term — forces the network to produce sparse codes that mirror OMP behavior, trained end-to-end via backprop.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3383279"/>
            <a:ext cx="4297680" cy="1417319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0" y="3383280"/>
            <a:ext cx="42976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09160" y="34930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09160" y="38221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~100× faster than OMP at inference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09160" y="407822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ARM Cortex-M microcontrollers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09160" y="433425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learnable — dictionary and codes jointly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9160" y="45902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/ ONNX export for wearables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 2: 2D MRI Image Denoising Extension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Dictionary Learning framework applied to MRI patches — BraTS / IXI datasets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530352"/>
          </a:xfrm>
          <a:prstGeom prst="rect">
            <a:avLst/>
          </a:prstGeom>
          <a:solidFill>
            <a:srgbClr val="061020"/>
          </a:solidFill>
          <a:ln w="12700">
            <a:solidFill>
              <a:srgbClr val="AA0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2494" y="1307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extension: </a:t>
            </a: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Dictionary Learning + OMP pipeline extends naturally to 2D images. Each MRI volume is split into overlapping 8×8 or 16×16 patches. A 2D overcomplete dictionary is learned from clean scans and used to remove Rician and Gaussian noise while preserving tissue boundaries.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1417320" cy="3474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874520"/>
            <a:ext cx="3310128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187452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(Current)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874520"/>
            <a:ext cx="3474720" cy="347472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0" y="18745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(Extension)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141732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267712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37360" y="2267712"/>
            <a:ext cx="3310128" cy="402336"/>
          </a:xfrm>
          <a:prstGeom prst="rect">
            <a:avLst/>
          </a:prstGeom>
          <a:solidFill>
            <a:srgbClr val="061C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10512" y="2267712"/>
            <a:ext cx="3163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1D signal: x ∈ ℝᴺ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2267712"/>
            <a:ext cx="3474720" cy="402336"/>
          </a:xfrm>
          <a:prstGeom prst="rect">
            <a:avLst/>
          </a:prstGeom>
          <a:solidFill>
            <a:srgbClr val="140A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93792" y="2267712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2D image: X ∈ ℝ^(H×W)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06624"/>
            <a:ext cx="141732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706624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size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2706624"/>
            <a:ext cx="3310128" cy="402336"/>
          </a:xfrm>
          <a:prstGeom prst="rect">
            <a:avLst/>
          </a:prstGeom>
          <a:solidFill>
            <a:srgbClr val="061C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10512" y="2706624"/>
            <a:ext cx="3163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64-sample window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2706624"/>
            <a:ext cx="3474720" cy="402336"/>
          </a:xfrm>
          <a:prstGeom prst="rect">
            <a:avLst/>
          </a:prstGeom>
          <a:solidFill>
            <a:srgbClr val="140A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93792" y="2706624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or 16×16 pixels (64 or 256 dims)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145536"/>
            <a:ext cx="141732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3145536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37360" y="3145536"/>
            <a:ext cx="3310128" cy="402336"/>
          </a:xfrm>
          <a:prstGeom prst="rect">
            <a:avLst/>
          </a:prstGeom>
          <a:solidFill>
            <a:srgbClr val="061C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10512" y="3145536"/>
            <a:ext cx="3163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∈ ℝ^(128×64)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145536"/>
            <a:ext cx="3474720" cy="402336"/>
          </a:xfrm>
          <a:prstGeom prst="rect">
            <a:avLst/>
          </a:prstGeom>
          <a:solidFill>
            <a:srgbClr val="140A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93792" y="3145536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∈ ℝ^(512×256) — 2D atoms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584448"/>
            <a:ext cx="141732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3584448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model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37360" y="3584448"/>
            <a:ext cx="3310128" cy="402336"/>
          </a:xfrm>
          <a:prstGeom prst="rect">
            <a:avLst/>
          </a:prstGeom>
          <a:solidFill>
            <a:srgbClr val="061C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10512" y="3584448"/>
            <a:ext cx="3163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+ BW + 50Hz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3584448"/>
            <a:ext cx="3474720" cy="402336"/>
          </a:xfrm>
          <a:prstGeom prst="rect">
            <a:avLst/>
          </a:prstGeom>
          <a:solidFill>
            <a:srgbClr val="140A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93792" y="358444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Rician noise (MRI physics) + Gaussian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023360"/>
            <a:ext cx="141732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7472" y="4023360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737360" y="4023360"/>
            <a:ext cx="3310128" cy="402336"/>
          </a:xfrm>
          <a:prstGeom prst="rect">
            <a:avLst/>
          </a:prstGeom>
          <a:solidFill>
            <a:srgbClr val="061C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810512" y="4023360"/>
            <a:ext cx="3163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48 records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4023360"/>
            <a:ext cx="3474720" cy="402336"/>
          </a:xfrm>
          <a:prstGeom prst="rect">
            <a:avLst/>
          </a:prstGeom>
          <a:solidFill>
            <a:srgbClr val="140A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93792" y="4023360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BraTS (brain tumors) / IXI (healthy)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462272"/>
            <a:ext cx="141732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7472" y="4462272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37360" y="4462272"/>
            <a:ext cx="3310128" cy="402336"/>
          </a:xfrm>
          <a:prstGeom prst="rect">
            <a:avLst/>
          </a:prstGeom>
          <a:solidFill>
            <a:srgbClr val="061C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810512" y="4462272"/>
            <a:ext cx="3163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 morphology preservation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20640" y="4462272"/>
            <a:ext cx="3474720" cy="402336"/>
          </a:xfrm>
          <a:prstGeom prst="rect">
            <a:avLst/>
          </a:prstGeom>
          <a:solidFill>
            <a:srgbClr val="140A2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93792" y="4462272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boundary + fine anatomical detail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8646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274320" y="365760"/>
            <a:ext cx="850392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11430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Summary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691640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loading with ADC→mV conversion and per-record normalization across 48 MIT-BIH patients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2167128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3-component noise model (Gaussian + baseline wander + powerline) at 10 dB SNR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2642616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K-SVD Dictionary Learning: 128 atoms, 64-sample windows, trained on 47 patient records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3118104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sparse coding: each patch reconstructed from ≤10 dictionary atoms — noise structurally excluded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593592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stride-1 patch averaging: each sample averaged across 64 independent estimates (Non-Local Means analogy)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069080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SNR 22.4 dB (+12.4 dB vs noisy, +4.5 dB vs wavelet baseline), RMSE 0.0482, R² 0.942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46817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2479</Words>
  <Application>Microsoft Office PowerPoint</Application>
  <PresentationFormat>On-screen Show (16:9)</PresentationFormat>
  <Paragraphs>306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Biomedical ECG Signal Denoising — Dictionary Learning</dc:title>
  <dc:subject>PptxGenJS Presentation</dc:subject>
  <dc:creator>PptxGenJS</dc:creator>
  <cp:lastModifiedBy>Nishchal Singh</cp:lastModifiedBy>
  <cp:revision>2</cp:revision>
  <dcterms:created xsi:type="dcterms:W3CDTF">2026-04-11T09:36:32Z</dcterms:created>
  <dcterms:modified xsi:type="dcterms:W3CDTF">2026-04-11T10:11:14Z</dcterms:modified>
</cp:coreProperties>
</file>