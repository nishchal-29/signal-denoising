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03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274320" y="347472"/>
            <a:ext cx="2926080" cy="3200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274320" y="347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: TechHunters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" y="8229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Signal</a:t>
            </a:r>
            <a:endParaRPr lang="en-US" sz="4600" dirty="0"/>
          </a:p>
        </p:txBody>
      </p:sp>
      <p:sp>
        <p:nvSpPr>
          <p:cNvPr id="9" name="Text 5"/>
          <p:cNvSpPr/>
          <p:nvPr/>
        </p:nvSpPr>
        <p:spPr>
          <a:xfrm>
            <a:off x="274320" y="14630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Pipeline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274320" y="221284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28600" y="257175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classical OMP sparse coding step in the ECG denoising pipeline with a Deep Unrolled CNN-LISTA (Learned Iterative Shrinkage-Thresholding Algorithm) model that maps noisy 64-sample patches to clean patches through 3 unrolled ISTA iterations.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74320" y="3730752"/>
            <a:ext cx="1938528" cy="1170432"/>
          </a:xfrm>
          <a:prstGeom prst="rect">
            <a:avLst/>
          </a:prstGeom>
          <a:solidFill>
            <a:srgbClr val="0D1528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47472" y="378561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47472" y="42793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OMP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extreme noise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395728" y="3730752"/>
            <a:ext cx="1938528" cy="1170432"/>
          </a:xfrm>
          <a:prstGeom prst="rect">
            <a:avLst/>
          </a:prstGeom>
          <a:solidFill>
            <a:srgbClr val="0D1528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468880" y="378561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+10.3 dB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468880" y="42793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improvement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−6 dB input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17136" y="3730752"/>
            <a:ext cx="1938528" cy="1170432"/>
          </a:xfrm>
          <a:prstGeom prst="rect">
            <a:avLst/>
          </a:prstGeom>
          <a:solidFill>
            <a:srgbClr val="0D1528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590288" y="378561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4590288" y="42793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O(kMN) CPU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638544" y="3730752"/>
            <a:ext cx="1938528" cy="1170432"/>
          </a:xfrm>
          <a:prstGeom prst="rect">
            <a:avLst/>
          </a:prstGeom>
          <a:solidFill>
            <a:srgbClr val="0D1528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11696" y="378561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R²=0.90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711696" y="42793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fidelity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16265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82880" y="49286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NSTDB Dataset  ·  TensorFlow / Keras  ·  3-Layer ISTA Unrolling  ·  K-SVD Dictionary Initialization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8270508" y="49286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Sparse Dictionary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≈ Dα — a principled morphology-aware approach, but with a critical deployment bottleneck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216633"/>
            <a:ext cx="8732520" cy="630456"/>
          </a:xfrm>
          <a:prstGeom prst="rect">
            <a:avLst/>
          </a:prstGeom>
          <a:solidFill>
            <a:srgbClr val="0A0018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18488" y="14036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Objective: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31168" y="1339596"/>
            <a:ext cx="483067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min_</a:t>
            </a:r>
            <a:r>
              <a:rPr lang="el-GR" sz="2400" dirty="0">
                <a:solidFill>
                  <a:schemeClr val="bg1"/>
                </a:solidFill>
              </a:rPr>
              <a:t>α ½‖</a:t>
            </a:r>
            <a:r>
              <a:rPr lang="en-US" sz="2400" dirty="0">
                <a:solidFill>
                  <a:schemeClr val="bg1"/>
                </a:solidFill>
              </a:rPr>
              <a:t>y − D</a:t>
            </a:r>
            <a:r>
              <a:rPr lang="el-GR" sz="2400" dirty="0">
                <a:solidFill>
                  <a:schemeClr val="bg1"/>
                </a:solidFill>
              </a:rPr>
              <a:t>α‖₂² + λ‖α‖₁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01168" y="2084832"/>
            <a:ext cx="2788920" cy="2578608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2084832"/>
            <a:ext cx="27889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2578608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atoms × 64 samples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" y="3054096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via K-SVD on 47 MIT-BIH patient records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" y="3529584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Overcomplete basis — captures all cardiac morphologies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" y="400507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atom = one ECG waveform template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45536" y="2084832"/>
            <a:ext cx="2788920" cy="2578608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45536" y="2084832"/>
            <a:ext cx="2788920" cy="6400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55264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Code 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55264" y="2578608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‖α‖₀ ≤ k = 10 (sparsity constraint)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55264" y="3054096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≤10 atoms used to reconstruct any patch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55264" y="3529584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≠ dictionary atoms → not reconstructed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55264" y="400507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solves this via greedy inner-product search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9904" y="2084832"/>
            <a:ext cx="2788920" cy="2578608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9904" y="2084832"/>
            <a:ext cx="2788920" cy="6400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99632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9632" y="2578608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= iterative while-loop on CPU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99632" y="3054096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O(k · M · N) per batch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99632" y="3529584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~ms per patch — infeasible for wearables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99632" y="400507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parallelize across GPU cores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4773168"/>
            <a:ext cx="8732520" cy="256032"/>
          </a:xfrm>
          <a:prstGeom prst="rect">
            <a:avLst/>
          </a:prstGeom>
          <a:solidFill>
            <a:srgbClr val="060010"/>
          </a:solidFill>
          <a:ln w="12700">
            <a:solidFill>
              <a:srgbClr val="5A6B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7914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OMP pseudocode:  r ← y;  for t = 1..k:  λ_t = argmax|D^T r|;  r ← r − D_λ·(D_λ^T D_λ)^{-1} D_λ^T r   ← CPU loop, cannot vectorize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66760" y="498396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Innovation: Algorithm Unrolling (OMP → LISTA)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the iterative CPU math with a trainable neural network — same structure, radically better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160520" cy="3200400"/>
          </a:xfrm>
          <a:prstGeom prst="rect">
            <a:avLst/>
          </a:prstGeom>
          <a:solidFill>
            <a:srgbClr val="111E36"/>
          </a:solidFill>
          <a:ln w="12700">
            <a:solidFill>
              <a:srgbClr val="2E3D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4160520" cy="64008"/>
          </a:xfrm>
          <a:prstGeom prst="rect">
            <a:avLst/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124358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ISTA Update: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1600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b="1" dirty="0">
                <a:solidFill>
                  <a:srgbClr val="00B050"/>
                </a:solidFill>
              </a:rPr>
              <a:t>α⁽</a:t>
            </a:r>
            <a:r>
              <a:rPr lang="en-US" b="1" dirty="0">
                <a:solidFill>
                  <a:srgbClr val="00B050"/>
                </a:solidFill>
              </a:rPr>
              <a:t>ᵗ⁺¹⁾ = S_</a:t>
            </a:r>
            <a:r>
              <a:rPr lang="el-GR" b="1" dirty="0">
                <a:solidFill>
                  <a:srgbClr val="00B050"/>
                </a:solidFill>
              </a:rPr>
              <a:t>λ( α⁽</a:t>
            </a:r>
            <a:r>
              <a:rPr lang="en-US" b="1" dirty="0">
                <a:solidFill>
                  <a:srgbClr val="00B050"/>
                </a:solidFill>
              </a:rPr>
              <a:t>ᵗ⁾ + (1/L)·Dᵀ·(y − D·</a:t>
            </a:r>
            <a:r>
              <a:rPr lang="el-GR" b="1" dirty="0">
                <a:solidFill>
                  <a:srgbClr val="00B050"/>
                </a:solidFill>
              </a:rPr>
              <a:t>α⁽</a:t>
            </a:r>
            <a:r>
              <a:rPr lang="en-US" b="1" dirty="0">
                <a:solidFill>
                  <a:srgbClr val="00B050"/>
                </a:solidFill>
              </a:rPr>
              <a:t>ᵗ⁾) )</a:t>
            </a:r>
          </a:p>
        </p:txBody>
      </p:sp>
      <p:sp>
        <p:nvSpPr>
          <p:cNvPr id="9" name="Text 7"/>
          <p:cNvSpPr/>
          <p:nvPr/>
        </p:nvSpPr>
        <p:spPr>
          <a:xfrm>
            <a:off x="329184" y="22128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(1/L)·Dᵀ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 step-size × fixed dictionary transpose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" y="268833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− D·α⁽ᵗ⁾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Residual signal at iteration 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" y="316382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S_λ( · )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Soft-threshold with fixed hand-tuned λ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" y="363931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until convergence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O(k) iterations, fully sequential CPU loop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2487168"/>
            <a:ext cx="292608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07408" y="2487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70832" y="2880360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73168" y="1115568"/>
            <a:ext cx="4160520" cy="3200400"/>
          </a:xfrm>
          <a:prstGeom prst="rect">
            <a:avLst/>
          </a:prstGeom>
          <a:solidFill>
            <a:srgbClr val="111E36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73168" y="1115568"/>
            <a:ext cx="416052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01184" y="124358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CNN-LISTA Update: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01184" y="160020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b="1" dirty="0">
                <a:solidFill>
                  <a:srgbClr val="00B050"/>
                </a:solidFill>
              </a:rPr>
              <a:t>α⁽</a:t>
            </a:r>
            <a:r>
              <a:rPr lang="en-US" b="1" dirty="0">
                <a:solidFill>
                  <a:srgbClr val="00B050"/>
                </a:solidFill>
              </a:rPr>
              <a:t>ᵗ⁺¹⁾ = S_{</a:t>
            </a:r>
            <a:r>
              <a:rPr lang="el-GR" b="1" dirty="0">
                <a:solidFill>
                  <a:srgbClr val="00B050"/>
                </a:solidFill>
              </a:rPr>
              <a:t>λ</a:t>
            </a:r>
            <a:r>
              <a:rPr lang="en-US" b="1" dirty="0">
                <a:solidFill>
                  <a:srgbClr val="00B050"/>
                </a:solidFill>
              </a:rPr>
              <a:t>ₜ}( </a:t>
            </a:r>
            <a:r>
              <a:rPr lang="el-GR" b="1" dirty="0">
                <a:solidFill>
                  <a:srgbClr val="00B050"/>
                </a:solidFill>
              </a:rPr>
              <a:t>α⁽</a:t>
            </a:r>
            <a:r>
              <a:rPr lang="en-US" b="1" dirty="0">
                <a:solidFill>
                  <a:srgbClr val="00B050"/>
                </a:solidFill>
              </a:rPr>
              <a:t>ᵗ⁾ + W_g·(y − D·</a:t>
            </a:r>
            <a:r>
              <a:rPr lang="el-GR" b="1" dirty="0">
                <a:solidFill>
                  <a:srgbClr val="00B050"/>
                </a:solidFill>
              </a:rPr>
              <a:t>α⁽</a:t>
            </a:r>
            <a:r>
              <a:rPr lang="en-US" b="1" dirty="0">
                <a:solidFill>
                  <a:srgbClr val="00B050"/>
                </a:solidFill>
              </a:rPr>
              <a:t>ᵗ⁾) )</a:t>
            </a:r>
          </a:p>
        </p:txBody>
      </p:sp>
      <p:sp>
        <p:nvSpPr>
          <p:cNvPr id="20" name="Text 18"/>
          <p:cNvSpPr/>
          <p:nvPr/>
        </p:nvSpPr>
        <p:spPr>
          <a:xfrm>
            <a:off x="4901184" y="2212848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W_g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Trainable Dense layer replacing (1/L)·Dᵀ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01184" y="268833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− D·α⁽ᵗ⁾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Residual encoded by Conv1D (W_e)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01184" y="3163824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S_{λₜ}( · )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Per-iteration trainable threshold λₜ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01184" y="3639312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3 unrolled layers 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GPU-parallelizable forward pass, O(1)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4480560"/>
            <a:ext cx="8732520" cy="548640"/>
          </a:xfrm>
          <a:prstGeom prst="rect">
            <a:avLst/>
          </a:prstGeom>
          <a:solidFill>
            <a:srgbClr val="0A0020"/>
          </a:solidFill>
          <a:ln w="12700">
            <a:solidFill>
              <a:srgbClr val="39FF14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188" y="44851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Upgrade: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1188" y="47320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mathematical matrices are replaced by learned neural weights. The network can adapt the dictionary atoms, step sizes, and thresholds jointly — impossible with classical ISTA.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Network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unrolled ISTA iterations — each iteration = Conv1D encoder + SoftThreshold + Dense decoder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8732520" cy="1664208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77072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2944368"/>
            <a:ext cx="4251960" cy="914400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01168" y="2944368"/>
            <a:ext cx="4251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0896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 Encoder (W_e)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0896" y="335584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64-d signal/residual → sparse coefficient domain. Convolutional weights capture local ECG pattern features. Initialized randomly, trained end-to-end.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08576" y="2944368"/>
            <a:ext cx="4251960" cy="914400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08576" y="2944368"/>
            <a:ext cx="425196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18304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SoftThreshold S_{λₜ}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718304" y="335584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sparsity-forcing nonlinearity: S_λ(z) = sign(z)·max(|z|−λ, 0). λₜ is a trainable scalar per iteration — no longer a hand-tuned hyperparameter.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01168" y="3995928"/>
            <a:ext cx="4251960" cy="914400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01168" y="3995928"/>
            <a:ext cx="425196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10896" y="4087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 Decoder (D)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10896" y="440740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from sklearn K-SVD dictionary.T (128×64). Set to fine-tunable: the neural optimizer adapts the clinical atom basis to minimize MSE + L1.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08576" y="3995928"/>
            <a:ext cx="4251960" cy="914400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08576" y="3995928"/>
            <a:ext cx="425196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18304" y="4087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Feedback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718304" y="440740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computes residual r = y − D·α, encodes it, and refines α. 3 iterations strike the balance: enough refinement, minimal compute overhead.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93024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Paradigm &amp; Custom Loss Function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reconstruction + L1 sparsity penalty trained end-to-end with custom Keras train_step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305426"/>
            <a:ext cx="8732520" cy="569094"/>
          </a:xfrm>
          <a:prstGeom prst="rect">
            <a:avLst/>
          </a:prstGeom>
          <a:solidFill>
            <a:srgbClr val="0A0018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5176" y="1463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Loss Function: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38531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 = (1/N)·Σ‖y_true − y_recon‖₂² + 0.001 × ‖α‖₁</a:t>
            </a:r>
            <a:endParaRPr lang="en-US" sz="2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01168" y="2212848"/>
            <a:ext cx="8732520" cy="786384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2212848"/>
            <a:ext cx="64008" cy="78638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" y="2395728"/>
            <a:ext cx="329184" cy="329184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267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 Enforcement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means are subtracted before encoding and discarded after reconstruction. EM artifacts manifest as slow baseline drift — by discarding the patch mean, we mathematically prevent low-frequency artifact re-injection. The mean of the reconstruction is always zero.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3099816"/>
            <a:ext cx="8732520" cy="786384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" y="3099816"/>
            <a:ext cx="64008" cy="7863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" y="3282696"/>
            <a:ext cx="329184" cy="32918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3282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154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train_step / test_step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447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Keras loss functions cannot handle tuple outputs (recon, α). We override train_step to compute MSE loss on y_recon and L1 penalty on α simultaneously, integrating both into one gradient tape update per batch.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3986784"/>
            <a:ext cx="8732520" cy="786384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3986784"/>
            <a:ext cx="64008" cy="78638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4169664"/>
            <a:ext cx="329184" cy="329184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" y="4169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4041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Fine-Tuning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43342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the decoder caused output collapse (~2.7 dB constant). Making it trainable while retaining K-SVD initialization allows the network to evolve the dictionary under a gradient signal — yielding 9.83 dB at 0 dB SNR vs 2.7 dB frozen.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3816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Curves: Convergence over 30 Epochs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MSE reconstruction decay with controlled L1 sparsity penalty — no overfitting or collapse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8732520" cy="2999232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07008"/>
            <a:ext cx="8577072" cy="2816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4251960"/>
            <a:ext cx="2788920" cy="891540"/>
          </a:xfrm>
          <a:prstGeom prst="rect">
            <a:avLst/>
          </a:prstGeom>
          <a:solidFill>
            <a:srgbClr val="111E36"/>
          </a:solidFill>
          <a:ln w="12700">
            <a:solidFill>
              <a:srgbClr val="39FF14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01168" y="4251960"/>
            <a:ext cx="278892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2885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5176" y="457729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from 0.55 to ~0.18 by epoch 30. Train and validation tracks closely — no overfitting, indicating strong generalization across patient morphologies.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45536" y="4251960"/>
            <a:ext cx="2788920" cy="891540"/>
          </a:xfrm>
          <a:prstGeom prst="rect">
            <a:avLst/>
          </a:prstGeom>
          <a:solidFill>
            <a:srgbClr val="111E36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45536" y="4251960"/>
            <a:ext cx="27889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95828" y="4294311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Recon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95828" y="457729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reconstruction error mirrors total loss. Validation curve (dashed) converges smoothly, confirming the K-SVD dictionary initialization bootstraps learning effectively.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9904" y="4251960"/>
            <a:ext cx="2788920" cy="891540"/>
          </a:xfrm>
          <a:prstGeom prst="rect">
            <a:avLst/>
          </a:prstGeom>
          <a:solidFill>
            <a:srgbClr val="111E36"/>
          </a:solidFill>
          <a:ln w="12700">
            <a:solidFill>
              <a:srgbClr val="FFB02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89904" y="4251960"/>
            <a:ext cx="278892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99632" y="4291183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9632" y="4581625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to peak ~7×10⁻⁴ at epoch 5 as the network learns sparse codes, then plateaus. Confirms active sparsity-enforcement throughout training.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29395" y="492789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Patient 16265 — 0 dB EM Noise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nsrdb_16265e00.mat — ground truth, all baselines and CNN-LISTA stacked — QRS morphology fully recovered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5897880" cy="3858768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760720" cy="3712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36208" y="1115568"/>
            <a:ext cx="1261872" cy="1170432"/>
          </a:xfrm>
          <a:prstGeom prst="rect">
            <a:avLst/>
          </a:prstGeom>
          <a:solidFill>
            <a:srgbClr val="0D1220"/>
          </a:solidFill>
          <a:ln w="12700">
            <a:solidFill>
              <a:srgbClr val="FF4D6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36208" y="128016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 dB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36208" y="1773936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SNR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36208" y="2011680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dB EM noise, NSTDB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589520" y="1115568"/>
            <a:ext cx="1261872" cy="1170432"/>
          </a:xfrm>
          <a:prstGeom prst="rect">
            <a:avLst/>
          </a:prstGeom>
          <a:solidFill>
            <a:srgbClr val="0D1220"/>
          </a:solidFill>
          <a:ln w="12700">
            <a:solidFill>
              <a:srgbClr val="39FF14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89520" y="128016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9.83 dB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89520" y="1773936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SNR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2011680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output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236208" y="2414016"/>
            <a:ext cx="1261872" cy="1170432"/>
          </a:xfrm>
          <a:prstGeom prst="rect">
            <a:avLst/>
          </a:prstGeom>
          <a:solidFill>
            <a:srgbClr val="0D1220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36208" y="257860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+5.40 dB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36208" y="307238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SNR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36208" y="3310128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589520" y="2414016"/>
            <a:ext cx="1261872" cy="1170432"/>
          </a:xfrm>
          <a:prstGeom prst="rect">
            <a:avLst/>
          </a:prstGeom>
          <a:solidFill>
            <a:srgbClr val="0D1220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89520" y="257860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589520" y="307238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89520" y="3310128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236208" y="3712464"/>
            <a:ext cx="1261872" cy="1170432"/>
          </a:xfrm>
          <a:prstGeom prst="rect">
            <a:avLst/>
          </a:prstGeom>
          <a:solidFill>
            <a:srgbClr val="0D1220"/>
          </a:solidFill>
          <a:ln w="12700">
            <a:solidFill>
              <a:srgbClr val="FFB02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36208" y="387705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236208" y="437083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36208" y="4608576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589520" y="3712464"/>
            <a:ext cx="1261872" cy="1170432"/>
          </a:xfrm>
          <a:prstGeom prst="rect">
            <a:avLst/>
          </a:prstGeom>
          <a:solidFill>
            <a:srgbClr val="0D1220"/>
          </a:solidFill>
          <a:ln w="12700">
            <a:solidFill>
              <a:srgbClr val="FFB02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589520" y="387705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32.23%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589520" y="437083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589520" y="4608576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RMS diff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327648" y="506577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119872" y="49194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 at 0 dB EM Noise — All 5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leads on SNR and R²; competitive on RMSE, PRD, SSIM — across the board improvement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8732520" cy="3364992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88720"/>
            <a:ext cx="8549640" cy="32186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4617720"/>
            <a:ext cx="2788920" cy="438912"/>
          </a:xfrm>
          <a:prstGeom prst="rect">
            <a:avLst/>
          </a:prstGeom>
          <a:solidFill>
            <a:srgbClr val="111E36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92608" y="46451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" y="46451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7.93 dB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2608" y="484632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+3.48 dB vs Butterworth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45536" y="4617720"/>
            <a:ext cx="2788920" cy="438912"/>
          </a:xfrm>
          <a:prstGeom prst="rect">
            <a:avLst/>
          </a:prstGeom>
          <a:solidFill>
            <a:srgbClr val="111E36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36976" y="4645152"/>
            <a:ext cx="546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12464" y="46451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0.40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36976" y="484632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OMP (0.42)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89904" y="4617720"/>
            <a:ext cx="2788920" cy="438912"/>
          </a:xfrm>
          <a:prstGeom prst="rect">
            <a:avLst/>
          </a:prstGeom>
          <a:solidFill>
            <a:srgbClr val="111E36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81344" y="46451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56832" y="46451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0.84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81344" y="484632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 vs Butterworth (0.64)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28432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Curves: Performance vs Noise Level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maintains near-flat output SNR while classical methods collapse at extreme noise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8732520" cy="2944368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77072" cy="27980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4206240"/>
            <a:ext cx="2788920" cy="937260"/>
          </a:xfrm>
          <a:prstGeom prst="rect">
            <a:avLst/>
          </a:prstGeom>
          <a:solidFill>
            <a:srgbClr val="111E36"/>
          </a:solidFill>
          <a:ln w="12700">
            <a:solidFill>
              <a:srgbClr val="39FF14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01168" y="4206240"/>
            <a:ext cx="278892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0896" y="4315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LISTA: Near-Flat Curve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0896" y="4599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8.74–11.22 dB across ALL noise levels. The learned morphological basis is robust — even when noise power exceeds signal power.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45536" y="4206240"/>
            <a:ext cx="2788920" cy="937260"/>
          </a:xfrm>
          <a:prstGeom prst="rect">
            <a:avLst/>
          </a:prstGeom>
          <a:solidFill>
            <a:srgbClr val="111E36"/>
          </a:solidFill>
          <a:ln w="12700">
            <a:solidFill>
              <a:srgbClr val="FF4D6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45536" y="4206240"/>
            <a:ext cx="2788920" cy="6400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55264" y="4315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Collapse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55264" y="4599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&amp; Wavelet: −1.54/−1.56 dB at −6 dB input. Negative output SNR means the filter degrades the signal further. RMSE spikes to 1.2.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9904" y="4206239"/>
            <a:ext cx="2788920" cy="937259"/>
          </a:xfrm>
          <a:prstGeom prst="rect">
            <a:avLst/>
          </a:prstGeom>
          <a:solidFill>
            <a:srgbClr val="111E36"/>
          </a:solidFill>
          <a:ln w="12700">
            <a:solidFill>
              <a:srgbClr val="FFB02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89904" y="4206240"/>
            <a:ext cx="2788920" cy="6400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99632" y="4315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OMP: Partial Robustness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9632" y="4599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(2.55 dB at −6 dB) outperforms classical filters but still falls 6.19 dB below LISTA. Greedy matching fails when residual ≫ signal.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9244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 dominates in extreme noise: the exact regime where wearable ECG telemetry matters most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8732520" cy="2670048"/>
          </a:xfrm>
          <a:prstGeom prst="rect">
            <a:avLst/>
          </a:prstGeom>
          <a:solidFill>
            <a:srgbClr val="111E36"/>
          </a:solidFill>
          <a:ln w="12700">
            <a:solidFill>
              <a:srgbClr val="1E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77072" cy="2523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3977640"/>
            <a:ext cx="2788920" cy="1078992"/>
          </a:xfrm>
          <a:prstGeom prst="rect">
            <a:avLst/>
          </a:prstGeom>
          <a:solidFill>
            <a:srgbClr val="0A0018"/>
          </a:solidFill>
          <a:ln w="12700">
            <a:solidFill>
              <a:srgbClr val="39FF14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01168" y="3977640"/>
            <a:ext cx="278892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0896" y="40965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+10.31 dB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10896" y="4553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improvement at −6 dB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0896" y="47731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−1.54 dB for Butterworth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output: 8.74 dB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5536" y="3977640"/>
            <a:ext cx="2788920" cy="1078992"/>
          </a:xfrm>
          <a:prstGeom prst="rect">
            <a:avLst/>
          </a:prstGeom>
          <a:solidFill>
            <a:srgbClr val="0A0018"/>
          </a:solidFill>
          <a:ln w="12700">
            <a:solidFill>
              <a:srgbClr val="7B2FBE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45536" y="3977640"/>
            <a:ext cx="278892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55264" y="40965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255264" y="4553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OMP at −6 dB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55264" y="47731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LISTA: +10.31 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OMP: +4.12 dB improvement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89904" y="3977640"/>
            <a:ext cx="2788920" cy="1078992"/>
          </a:xfrm>
          <a:prstGeom prst="rect">
            <a:avLst/>
          </a:prstGeom>
          <a:solidFill>
            <a:srgbClr val="0A0018"/>
          </a:solidFill>
          <a:ln w="12700">
            <a:solidFill>
              <a:srgbClr val="FF4D6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89904" y="3977640"/>
            <a:ext cx="2788920" cy="6400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99632" y="40965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 dB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199632" y="4553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louder than heartbeat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99632" y="47731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produce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output SNR here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80890" y="4849689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641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Complexity: O(kMN) → O(1)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sequential CPU iterations to fully-parallelizable GPU forward pass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160520" cy="3858768"/>
          </a:xfrm>
          <a:prstGeom prst="rect">
            <a:avLst/>
          </a:prstGeom>
          <a:solidFill>
            <a:srgbClr val="111E36"/>
          </a:solidFill>
          <a:ln w="12700">
            <a:solidFill>
              <a:srgbClr val="2E3D5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4160520" cy="64008"/>
          </a:xfrm>
          <a:prstGeom prst="rect">
            <a:avLst/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124358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/ Classical ISTA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37360" y="1664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 · M · 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37360" y="21031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sparsity (10 iterations)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" y="25420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37360" y="25420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dictionary atoms (128)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37360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patch dim (64)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" y="34198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37360" y="3419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— single core, sequential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" y="3858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Vectorize?: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37360" y="38587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each iteration depends on prior residual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Wearable?: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37360" y="4297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Infeasible — too slow for real-time ARM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1115568"/>
            <a:ext cx="4160520" cy="3858768"/>
          </a:xfrm>
          <a:prstGeom prst="rect">
            <a:avLst/>
          </a:prstGeom>
          <a:solidFill>
            <a:srgbClr val="111E36"/>
          </a:solidFill>
          <a:ln w="12700">
            <a:solidFill>
              <a:srgbClr val="39FF14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73168" y="1115568"/>
            <a:ext cx="416052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01184" y="124358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CNN-LISTA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1184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1664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— fixed 3 layers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01184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21031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unrolled ISTA iterations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01184" y="25420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25420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~40K trainable weights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01184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patches in parallel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01184" y="34198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3419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/ TPU — fully vectorized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01184" y="3858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38587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 Lite · ONNX · CoreML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01184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Wearable?: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4297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ARM Cortex-M feasible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0312" y="4721913"/>
            <a:ext cx="8732520" cy="256032"/>
          </a:xfrm>
          <a:prstGeom prst="rect">
            <a:avLst/>
          </a:prstGeom>
          <a:solidFill>
            <a:srgbClr val="060020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2608" y="47594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~100× faster inference than OMP at equivalent denoising quality — enabling real-time ECG monitoring on next-generation wearable cardiac telemetry devices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0" y="47594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56032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56032" y="157276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that EM noise is spectrally inseparable from QRS — frequency methods fundamentally fail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6032" y="2048256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Dictionary Learning baseline: K-SVD, 128 atoms, 47-patient training corpus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6032" y="2523744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Unrolled ISTA into 3-layer CNN-LISTA: Conv1D encoder + trainable SoftThreshold + fine-tunable K-SVD decoder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032" y="2999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loss: MSE + 0.001×L1 sparsity penalty — trained end-to-end with custom Keras train_step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6032" y="3474720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9.83 dB output SNR at 0 dB input, R²=0.90, 2.5× better than OMP at −6 dB noise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6032" y="395020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O(1) GPU inference — 100× faster than OMP, wearable-deployable via TF Lite / ONNX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6032" y="46634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3816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1632</Words>
  <Application>Microsoft Office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CNN-LISTA ECG Denoising</dc:title>
  <dc:subject>PptxGenJS Presentation</dc:subject>
  <dc:creator>PptxGenJS</dc:creator>
  <cp:lastModifiedBy>Nishchal Singh</cp:lastModifiedBy>
  <cp:revision>3</cp:revision>
  <dcterms:created xsi:type="dcterms:W3CDTF">2026-04-11T22:11:28Z</dcterms:created>
  <dcterms:modified xsi:type="dcterms:W3CDTF">2026-04-11T23:30:11Z</dcterms:modified>
</cp:coreProperties>
</file>